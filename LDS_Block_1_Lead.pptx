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Inter"/>
      <p:regular r:id="rId22"/>
      <p:bold r:id="rId23"/>
      <p:italic r:id="rId24"/>
      <p:boldItalic r:id="rId25"/>
    </p:embeddedFont>
    <p:embeddedFont>
      <p:font typeface="Inter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dvfHEzDe6e7uLoSLpfr8NsU0m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456F1C-D7DC-43FC-AAA8-48E0F1207B7D}">
  <a:tblStyle styleId="{20456F1C-D7DC-43FC-AAA8-48E0F1207B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-regular.fntdata"/><Relationship Id="rId21" Type="http://schemas.openxmlformats.org/officeDocument/2006/relationships/slide" Target="slides/slide16.xml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InterMedium-italic.fntdata"/><Relationship Id="rId27" Type="http://schemas.openxmlformats.org/officeDocument/2006/relationships/font" Target="fonts/Inter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e33c6017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9e33c6017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e33c6017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9e33c6017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e33c6017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9e33c6017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e33c6017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9e33c6017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e33c6017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9e33c6017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e33c6017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9e33c6017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e33c6017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9e33c6017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e33c6017c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9e33c6017c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e33c6017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9e33c6017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e33c6017c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9e33c6017c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e33c6017c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9e33c6017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107800" y="1710025"/>
            <a:ext cx="89283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3700">
                <a:solidFill>
                  <a:srgbClr val="0E3449"/>
                </a:solidFill>
              </a:rPr>
              <a:t>Spotify Data Governance (AIA block 1)</a:t>
            </a:r>
            <a:endParaRPr sz="3700">
              <a:solidFill>
                <a:srgbClr val="0E3449"/>
              </a:solidFill>
            </a:endParaRPr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>
            <p:ph type="ctrTitle"/>
          </p:nvPr>
        </p:nvSpPr>
        <p:spPr>
          <a:xfrm>
            <a:off x="0" y="3643262"/>
            <a:ext cx="53151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fr" sz="700"/>
              <a:t>Aurélien Chalm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fr" sz="900"/>
              <a:t>GitHub : https://github.com/aurelienchalm/LDS_block_1_lead</a:t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idx="4294967295" type="ctrTitle"/>
          </p:nvPr>
        </p:nvSpPr>
        <p:spPr>
          <a:xfrm>
            <a:off x="1040276" y="1666825"/>
            <a:ext cx="64509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2400"/>
              <a:t>Understanding Spotify’s Data Landscape</a:t>
            </a:r>
            <a:endParaRPr b="1" i="0" sz="45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800"/>
              <a:t>Executive Summary – Data Landscape Overview</a:t>
            </a: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/>
          </a:p>
        </p:txBody>
      </p:sp>
      <p:sp>
        <p:nvSpPr>
          <p:cNvPr id="69" name="Google Shape;69;p3"/>
          <p:cNvSpPr txBox="1"/>
          <p:nvPr>
            <p:ph idx="4294967295" type="ctrTitle"/>
          </p:nvPr>
        </p:nvSpPr>
        <p:spPr>
          <a:xfrm>
            <a:off x="0" y="385900"/>
            <a:ext cx="91440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fr" sz="1100"/>
              <a:t>Positionnement actuel &amp; grands enseignements</a:t>
            </a:r>
            <a:br>
              <a:rPr i="1" lang="fr" sz="1100"/>
            </a:br>
            <a:endParaRPr i="1" sz="11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B525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B525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4B5258"/>
                </a:solidFill>
              </a:rPr>
              <a:t>✅ Infrastructure cloud moderne et sécurisée (SOC interne, RBAC/ABAC)</a:t>
            </a:r>
            <a:br>
              <a:rPr b="1" lang="fr" sz="1100">
                <a:solidFill>
                  <a:srgbClr val="4B5258"/>
                </a:solidFill>
              </a:rPr>
            </a:br>
            <a:r>
              <a:rPr b="1" lang="fr" sz="1100">
                <a:solidFill>
                  <a:srgbClr val="4B5258"/>
                </a:solidFill>
              </a:rPr>
              <a:t>✅ Forte culture data technique</a:t>
            </a:r>
            <a:br>
              <a:rPr b="1" lang="fr" sz="1100">
                <a:solidFill>
                  <a:srgbClr val="4B5258"/>
                </a:solidFill>
              </a:rPr>
            </a:br>
            <a:r>
              <a:rPr b="1" lang="fr" sz="1100">
                <a:solidFill>
                  <a:srgbClr val="4B5258"/>
                </a:solidFill>
              </a:rPr>
              <a:t> ⚠️ Gouvernance fragmentée et qualité hétérogène des données</a:t>
            </a:r>
            <a:br>
              <a:rPr lang="fr" sz="11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endParaRPr sz="11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1" name="Google Shape;71;p3"/>
          <p:cNvGraphicFramePr/>
          <p:nvPr/>
        </p:nvGraphicFramePr>
        <p:xfrm>
          <a:off x="800275" y="89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{20456F1C-D7DC-43FC-AAA8-48E0F1207B7D}</a:tableStyleId>
              </a:tblPr>
              <a:tblGrid>
                <a:gridCol w="3619500"/>
                <a:gridCol w="3619500"/>
              </a:tblGrid>
              <a:tr h="19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fr" sz="1100"/>
                        <a:t>Dimension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fr" sz="1100"/>
                        <a:t>Score (1–5)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19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Data Governance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3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19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Data Quality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2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19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Data Architecture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4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19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Compliance (RGPD, CCPA, PCI-DSS)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3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198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Data Usage &amp; Accessibility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4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19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Data Security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4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12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Data Literacy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3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19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Data Integration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3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Analytics &amp; BI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4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e33c6017c_0_17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800"/>
              <a:t>Key Challenges &amp; Priorities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/>
          </a:p>
        </p:txBody>
      </p:sp>
      <p:sp>
        <p:nvSpPr>
          <p:cNvPr id="77" name="Google Shape;77;g39e33c6017c_0_17"/>
          <p:cNvSpPr txBox="1"/>
          <p:nvPr>
            <p:ph idx="4294967295" type="ctrTitle"/>
          </p:nvPr>
        </p:nvSpPr>
        <p:spPr>
          <a:xfrm>
            <a:off x="0" y="385900"/>
            <a:ext cx="91440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fr" sz="1100"/>
              <a:t>Top 4 des challenges identifiés</a:t>
            </a:r>
            <a:br>
              <a:rPr i="1" lang="fr" sz="1100"/>
            </a:br>
            <a:endParaRPr i="1" sz="11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/>
              <a:t>1️⃣ </a:t>
            </a:r>
            <a:r>
              <a:rPr b="1" lang="fr" sz="1100"/>
              <a:t>Gouvernance fragmentée</a:t>
            </a:r>
            <a:r>
              <a:rPr lang="fr" sz="1100"/>
              <a:t> – manque de cadre commun entre départements.</a:t>
            </a:r>
            <a:endParaRPr sz="11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100"/>
            </a:br>
            <a:r>
              <a:rPr lang="fr" sz="1100"/>
              <a:t>	2️⃣ </a:t>
            </a:r>
            <a:r>
              <a:rPr b="1" lang="fr" sz="1100"/>
              <a:t>Qualité des données non uniforme</a:t>
            </a:r>
            <a:r>
              <a:rPr lang="fr" sz="1100"/>
              <a:t> – formats et sources disparates.</a:t>
            </a:r>
            <a:endParaRPr sz="11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100"/>
            </a:br>
            <a:r>
              <a:rPr lang="fr" sz="1100"/>
              <a:t>	3️⃣ </a:t>
            </a:r>
            <a:r>
              <a:rPr b="1" lang="fr" sz="1100"/>
              <a:t>Risques de conformité et d’accès</a:t>
            </a:r>
            <a:r>
              <a:rPr lang="fr" sz="1100"/>
              <a:t> – gestion incomplète du droit à l’oubli, accumulation de droits.</a:t>
            </a:r>
            <a:endParaRPr sz="11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100"/>
            </a:br>
            <a:r>
              <a:rPr lang="fr" sz="1100"/>
              <a:t>	4️⃣ </a:t>
            </a:r>
            <a:r>
              <a:rPr b="1" lang="fr" sz="1100"/>
              <a:t>Manque de culture et de standardisation data</a:t>
            </a:r>
            <a:r>
              <a:rPr lang="fr" sz="1100"/>
              <a:t> – besoin d’un langage commun entre métiers et IT.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fr" sz="1100"/>
            </a:br>
            <a:br>
              <a:rPr b="1" lang="fr" sz="1100"/>
            </a:br>
            <a:r>
              <a:rPr lang="fr" sz="1100"/>
              <a:t> </a:t>
            </a:r>
            <a:r>
              <a:rPr lang="fr" sz="1100">
                <a:solidFill>
                  <a:srgbClr val="0E0E0E"/>
                </a:solidFill>
              </a:rPr>
              <a:t>Ces constats appellent une gouvernance unifiée via un </a:t>
            </a:r>
            <a:r>
              <a:rPr b="1" lang="fr" sz="1100">
                <a:solidFill>
                  <a:srgbClr val="0E0E0E"/>
                </a:solidFill>
              </a:rPr>
              <a:t>Center of Excellence (CoE)</a:t>
            </a:r>
            <a:r>
              <a:rPr lang="fr" sz="1100">
                <a:solidFill>
                  <a:srgbClr val="0E0E0E"/>
                </a:solidFill>
              </a:rPr>
              <a:t> et des outils communs.</a:t>
            </a:r>
            <a:br>
              <a:rPr lang="fr" sz="1050">
                <a:solidFill>
                  <a:srgbClr val="0E0E0E"/>
                </a:solidFill>
              </a:rPr>
            </a:br>
            <a:endParaRPr sz="105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B525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B525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1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endParaRPr sz="11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78" name="Google Shape;78;g39e33c6017c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e33c6017c_0_29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800"/>
              <a:t>Strategic Recommendations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/>
          </a:p>
        </p:txBody>
      </p:sp>
      <p:sp>
        <p:nvSpPr>
          <p:cNvPr id="84" name="Google Shape;84;g39e33c6017c_0_29"/>
          <p:cNvSpPr txBox="1"/>
          <p:nvPr>
            <p:ph idx="4294967295" type="ctrTitle"/>
          </p:nvPr>
        </p:nvSpPr>
        <p:spPr>
          <a:xfrm>
            <a:off x="0" y="385900"/>
            <a:ext cx="91440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fr" sz="1100"/>
              <a:t>Prochaines étapes pour renforcer la gouvernance de données</a:t>
            </a: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r>
              <a:rPr lang="fr" sz="1100"/>
              <a:t>Créer un </a:t>
            </a:r>
            <a:r>
              <a:rPr b="1" lang="fr" sz="1100"/>
              <a:t>Data Governance Committee</a:t>
            </a:r>
            <a:r>
              <a:rPr lang="fr" sz="1100"/>
              <a:t> et un </a:t>
            </a:r>
            <a:r>
              <a:rPr b="1" lang="fr" sz="1100"/>
              <a:t>CoE</a:t>
            </a:r>
            <a:r>
              <a:rPr lang="fr" sz="1100"/>
              <a:t>.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Déployer un </a:t>
            </a:r>
            <a:r>
              <a:rPr b="1" lang="fr" sz="1100"/>
              <a:t>Data Catalog unifié (Collibra / Alation)</a:t>
            </a:r>
            <a:r>
              <a:rPr lang="fr" sz="1100"/>
              <a:t>.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Mettre en place un </a:t>
            </a:r>
            <a:r>
              <a:rPr b="1" lang="fr" sz="1100"/>
              <a:t>Data Quality Framework (Ataccama / Informatica)</a:t>
            </a:r>
            <a:r>
              <a:rPr lang="fr" sz="1100"/>
              <a:t>.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Automatiser la conformité </a:t>
            </a:r>
            <a:r>
              <a:rPr b="1" lang="fr" sz="1100"/>
              <a:t>RGPD/CCPA</a:t>
            </a:r>
            <a:r>
              <a:rPr lang="fr" sz="1100"/>
              <a:t> (OneTrust / TrustArc).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Lancer la </a:t>
            </a:r>
            <a:r>
              <a:rPr b="1" lang="fr" sz="1100"/>
              <a:t>Spotify Data Academy</a:t>
            </a:r>
            <a:r>
              <a:rPr lang="fr" sz="1100"/>
              <a:t> pour renforcer la culture data.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/>
          </a:p>
          <a:p>
            <a:pPr indent="0" lvl="0" marL="1397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rgbClr val="0E0E0E"/>
                </a:solidFill>
              </a:rPr>
              <a:t>Spotify possède une base technologique solide ; la mise en place d’une gouvernance centralisée et standardisée via un </a:t>
            </a:r>
            <a:r>
              <a:rPr b="1" lang="fr" sz="1100">
                <a:solidFill>
                  <a:srgbClr val="0E0E0E"/>
                </a:solidFill>
              </a:rPr>
              <a:t>CoE</a:t>
            </a:r>
            <a:r>
              <a:rPr lang="fr" sz="1100">
                <a:solidFill>
                  <a:srgbClr val="0E0E0E"/>
                </a:solidFill>
              </a:rPr>
              <a:t> et un </a:t>
            </a:r>
            <a:r>
              <a:rPr b="1" lang="fr" sz="1100">
                <a:solidFill>
                  <a:srgbClr val="0E0E0E"/>
                </a:solidFill>
              </a:rPr>
              <a:t>Data Catalog</a:t>
            </a:r>
            <a:r>
              <a:rPr lang="fr" sz="1100">
                <a:solidFill>
                  <a:srgbClr val="0E0E0E"/>
                </a:solidFill>
              </a:rPr>
              <a:t> permettra d’accroître la maturité globale et la confiance dans les données.</a:t>
            </a:r>
            <a:endParaRPr sz="110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B525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B525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1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endParaRPr sz="11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85" name="Google Shape;85;g39e33c6017c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e33c6017c_0_38"/>
          <p:cNvSpPr txBox="1"/>
          <p:nvPr>
            <p:ph idx="4294967295" type="ctrTitle"/>
          </p:nvPr>
        </p:nvSpPr>
        <p:spPr>
          <a:xfrm>
            <a:off x="1040275" y="1666825"/>
            <a:ext cx="71157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2400"/>
              <a:t>Spotify – Data Governance Policy Document</a:t>
            </a:r>
            <a:endParaRPr b="1" i="0" sz="48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1" name="Google Shape;91;g39e33c6017c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e33c6017c_0_43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800"/>
              <a:t>Spotify Data Governance Policy</a:t>
            </a:r>
            <a:endParaRPr b="1" sz="25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/>
          </a:p>
        </p:txBody>
      </p:sp>
      <p:sp>
        <p:nvSpPr>
          <p:cNvPr id="97" name="Google Shape;97;g39e33c6017c_0_43"/>
          <p:cNvSpPr txBox="1"/>
          <p:nvPr>
            <p:ph idx="4294967295" type="ctrTitle"/>
          </p:nvPr>
        </p:nvSpPr>
        <p:spPr>
          <a:xfrm>
            <a:off x="0" y="385900"/>
            <a:ext cx="91440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fr" sz="1100"/>
              <a:t>Cadre éthique, qualité et conformité</a:t>
            </a: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r>
              <a:rPr lang="fr" sz="1100"/>
              <a:t>Couvre </a:t>
            </a:r>
            <a:r>
              <a:rPr b="1" lang="fr" sz="1100"/>
              <a:t>toutes les entités Spotify</a:t>
            </a:r>
            <a:r>
              <a:rPr lang="fr" sz="1100"/>
              <a:t> (collecte → diffusion).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Garantit </a:t>
            </a:r>
            <a:r>
              <a:rPr b="1" lang="fr" sz="1100"/>
              <a:t>qualité, sécurité, conformité RGPD/CCPA</a:t>
            </a:r>
            <a:r>
              <a:rPr lang="fr" sz="1100"/>
              <a:t>.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Favorise une </a:t>
            </a:r>
            <a:r>
              <a:rPr b="1" lang="fr" sz="1100"/>
              <a:t>culture data-driven</a:t>
            </a:r>
            <a:r>
              <a:rPr lang="fr" sz="1100"/>
              <a:t> et la </a:t>
            </a:r>
            <a:r>
              <a:rPr b="1" lang="fr" sz="1100"/>
              <a:t>confiance des utilisateurs</a:t>
            </a:r>
            <a:r>
              <a:rPr lang="fr" sz="1100"/>
              <a:t>.</a:t>
            </a:r>
            <a:br>
              <a:rPr lang="fr" sz="1100"/>
            </a:b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E0E0E"/>
                </a:solidFill>
              </a:rPr>
              <a:t>Spotify s’aligne sur les exigences : </a:t>
            </a:r>
            <a:br>
              <a:rPr lang="fr" sz="1100"/>
            </a:br>
            <a:br>
              <a:rPr lang="fr" sz="1100"/>
            </a:br>
            <a:r>
              <a:rPr lang="fr" sz="1100"/>
              <a:t> 🟢 RGPD 🇪🇺 | 🟢 CCPA 🇺🇸 | 🟢 PCI-DSS 💳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B525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B525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1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endParaRPr sz="11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98" name="Google Shape;98;g39e33c6017c_0_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e33c6017c_0_52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800"/>
              <a:t>Governance Structure – Center of Excellence Model (CoE)</a:t>
            </a:r>
            <a:endParaRPr b="1" sz="25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/>
          </a:p>
        </p:txBody>
      </p:sp>
      <p:sp>
        <p:nvSpPr>
          <p:cNvPr id="104" name="Google Shape;104;g39e33c6017c_0_52"/>
          <p:cNvSpPr txBox="1"/>
          <p:nvPr>
            <p:ph idx="4294967295" type="ctrTitle"/>
          </p:nvPr>
        </p:nvSpPr>
        <p:spPr>
          <a:xfrm>
            <a:off x="0" y="385900"/>
            <a:ext cx="91440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fr" sz="1100"/>
              <a:t>Une gouvernance fédérée : centralisée dans la vision, décentralisée dans l’exécution</a:t>
            </a: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r>
              <a:rPr lang="fr" sz="1100">
                <a:solidFill>
                  <a:srgbClr val="0E0E0E"/>
                </a:solidFill>
              </a:rPr>
              <a:t>Le CoE définit les standards, outils et bonnes pratiques.</a:t>
            </a:r>
            <a:br>
              <a:rPr lang="fr" sz="1100">
                <a:solidFill>
                  <a:srgbClr val="0E0E0E"/>
                </a:solidFill>
              </a:rPr>
            </a:br>
            <a:br>
              <a:rPr lang="fr" sz="1100">
                <a:solidFill>
                  <a:srgbClr val="0E0E0E"/>
                </a:solidFill>
              </a:rPr>
            </a:br>
            <a:r>
              <a:rPr lang="fr" sz="1100"/>
              <a:t> </a:t>
            </a:r>
            <a:r>
              <a:rPr lang="fr" sz="1100">
                <a:solidFill>
                  <a:srgbClr val="0E0E0E"/>
                </a:solidFill>
              </a:rPr>
              <a:t>Chaque département (marketing, produit, finance) les applique localement via ses Data Stewards.</a:t>
            </a:r>
            <a:br>
              <a:rPr lang="fr" sz="1100">
                <a:solidFill>
                  <a:srgbClr val="0E0E0E"/>
                </a:solidFill>
              </a:rPr>
            </a:br>
            <a:br>
              <a:rPr lang="fr" sz="1100">
                <a:solidFill>
                  <a:srgbClr val="0E0E0E"/>
                </a:solidFill>
              </a:rPr>
            </a:br>
            <a:r>
              <a:rPr lang="fr" sz="1100"/>
              <a:t> </a:t>
            </a:r>
            <a:r>
              <a:rPr lang="fr" sz="1100">
                <a:solidFill>
                  <a:srgbClr val="0E0E0E"/>
                </a:solidFill>
              </a:rPr>
              <a:t>Cette approche garantit </a:t>
            </a:r>
            <a:r>
              <a:rPr b="1" lang="fr" sz="1100">
                <a:solidFill>
                  <a:srgbClr val="0E0E0E"/>
                </a:solidFill>
              </a:rPr>
              <a:t>interopérabilité, cohérence et fin des silos</a:t>
            </a:r>
            <a:r>
              <a:rPr lang="fr" sz="1100">
                <a:solidFill>
                  <a:srgbClr val="0E0E0E"/>
                </a:solidFill>
              </a:rPr>
              <a:t>.</a:t>
            </a:r>
            <a:br>
              <a:rPr lang="fr" sz="1100">
                <a:solidFill>
                  <a:srgbClr val="0E0E0E"/>
                </a:solidFill>
              </a:rPr>
            </a:br>
            <a:endParaRPr sz="1100">
              <a:solidFill>
                <a:srgbClr val="0E0E0E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Rôles clés </a:t>
            </a:r>
            <a:r>
              <a:rPr lang="fr" sz="1100"/>
              <a:t>: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🧭 </a:t>
            </a:r>
            <a:r>
              <a:rPr b="1" lang="fr" sz="1100"/>
              <a:t>CDO</a:t>
            </a:r>
            <a:r>
              <a:rPr lang="fr" sz="1100"/>
              <a:t> – stratégie data &amp; supervision globale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🛡️ </a:t>
            </a:r>
            <a:r>
              <a:rPr b="1" lang="fr" sz="1100"/>
              <a:t>DPO</a:t>
            </a:r>
            <a:r>
              <a:rPr lang="fr" sz="1100"/>
              <a:t> – conformité RGPD/CCPA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🧩 </a:t>
            </a:r>
            <a:r>
              <a:rPr b="1" lang="fr" sz="1100"/>
              <a:t>Data Stewards</a:t>
            </a:r>
            <a:r>
              <a:rPr lang="fr" sz="1100"/>
              <a:t> – qualité &amp; documentation locale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🏛️ </a:t>
            </a:r>
            <a:r>
              <a:rPr b="1" lang="fr" sz="1100"/>
              <a:t>Data Governance Committee</a:t>
            </a:r>
            <a:r>
              <a:rPr lang="fr" sz="1100"/>
              <a:t> – validation &amp; suivi des politiques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B525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B525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1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endParaRPr sz="11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05" name="Google Shape;105;g39e33c6017c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e33c6017c_0_66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800"/>
              <a:t>Governance Structure – Center of Excellence Model (CoE)</a:t>
            </a:r>
            <a:endParaRPr b="1" sz="25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/>
          </a:p>
        </p:txBody>
      </p:sp>
      <p:pic>
        <p:nvPicPr>
          <p:cNvPr id="111" name="Google Shape;111;g39e33c6017c_0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9e33c6017c_0_66" title="spotify_CoE_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7250" y="533100"/>
            <a:ext cx="3629975" cy="461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e33c6017c_0_74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800"/>
              <a:t>Technology &amp; Pilot Implementation</a:t>
            </a:r>
            <a:endParaRPr b="1" sz="25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/>
          </a:p>
        </p:txBody>
      </p:sp>
      <p:sp>
        <p:nvSpPr>
          <p:cNvPr id="118" name="Google Shape;118;g39e33c6017c_0_74"/>
          <p:cNvSpPr txBox="1"/>
          <p:nvPr>
            <p:ph idx="4294967295" type="ctrTitle"/>
          </p:nvPr>
        </p:nvSpPr>
        <p:spPr>
          <a:xfrm>
            <a:off x="0" y="385900"/>
            <a:ext cx="91440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fr" sz="1100"/>
              <a:t>Des outils intégrés pour une gouvernance intelligente</a:t>
            </a: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r>
              <a:rPr i="1" lang="fr" sz="1100">
                <a:solidFill>
                  <a:srgbClr val="0E0E0E"/>
                </a:solidFill>
              </a:rPr>
              <a:t>Objectif :</a:t>
            </a:r>
            <a:r>
              <a:rPr lang="fr" sz="1100">
                <a:solidFill>
                  <a:srgbClr val="0E0E0E"/>
                </a:solidFill>
              </a:rPr>
              <a:t> tester le framework sur les données marketing (segmentation, campagnes, canaux).</a:t>
            </a:r>
            <a:br>
              <a:rPr lang="fr" sz="1100">
                <a:solidFill>
                  <a:srgbClr val="0E0E0E"/>
                </a:solidFill>
              </a:rPr>
            </a:br>
            <a:br>
              <a:rPr lang="fr" sz="1100">
                <a:solidFill>
                  <a:srgbClr val="0E0E0E"/>
                </a:solidFill>
              </a:rPr>
            </a:br>
            <a:r>
              <a:rPr i="1" lang="fr" sz="1100">
                <a:solidFill>
                  <a:srgbClr val="0E0E0E"/>
                </a:solidFill>
              </a:rPr>
              <a:t>Durée :</a:t>
            </a:r>
            <a:r>
              <a:rPr lang="fr" sz="1100">
                <a:solidFill>
                  <a:srgbClr val="0E0E0E"/>
                </a:solidFill>
              </a:rPr>
              <a:t> 6 mois (janv–juin 2026).</a:t>
            </a:r>
            <a:br>
              <a:rPr lang="fr" sz="1100">
                <a:solidFill>
                  <a:srgbClr val="0E0E0E"/>
                </a:solidFill>
              </a:rPr>
            </a:br>
            <a:br>
              <a:rPr lang="fr" sz="1100">
                <a:solidFill>
                  <a:srgbClr val="0E0E0E"/>
                </a:solidFill>
              </a:rPr>
            </a:br>
            <a:r>
              <a:rPr i="1" lang="fr" sz="1100">
                <a:solidFill>
                  <a:srgbClr val="0E0E0E"/>
                </a:solidFill>
              </a:rPr>
              <a:t>Outils :</a:t>
            </a:r>
            <a:r>
              <a:rPr lang="fr" sz="1100">
                <a:solidFill>
                  <a:srgbClr val="0E0E0E"/>
                </a:solidFill>
              </a:rPr>
              <a:t> Collibra + Qlik-Talend + OneTrust.</a:t>
            </a:r>
            <a:br>
              <a:rPr lang="fr" sz="1100">
                <a:solidFill>
                  <a:srgbClr val="0E0E0E"/>
                </a:solidFill>
              </a:rPr>
            </a:br>
            <a:br>
              <a:rPr lang="fr" sz="1100">
                <a:solidFill>
                  <a:srgbClr val="0E0E0E"/>
                </a:solidFill>
              </a:rPr>
            </a:br>
            <a:r>
              <a:rPr lang="fr" sz="1100">
                <a:solidFill>
                  <a:srgbClr val="0E0E0E"/>
                </a:solidFill>
              </a:rPr>
              <a:t>📊 </a:t>
            </a:r>
            <a:r>
              <a:rPr i="1" lang="fr" sz="1100">
                <a:solidFill>
                  <a:srgbClr val="0E0E0E"/>
                </a:solidFill>
              </a:rPr>
              <a:t>KPIs :</a:t>
            </a:r>
            <a:br>
              <a:rPr i="1" lang="fr" sz="1100">
                <a:solidFill>
                  <a:srgbClr val="0E0E0E"/>
                </a:solidFill>
              </a:rPr>
            </a:br>
            <a:br>
              <a:rPr i="1" lang="fr" sz="1100">
                <a:solidFill>
                  <a:srgbClr val="0E0E0E"/>
                </a:solidFill>
              </a:rPr>
            </a:br>
            <a:r>
              <a:rPr lang="fr" sz="1100"/>
              <a:t> </a:t>
            </a:r>
            <a:r>
              <a:rPr lang="fr" sz="1100">
                <a:solidFill>
                  <a:srgbClr val="0E0E0E"/>
                </a:solidFill>
              </a:rPr>
              <a:t> +10 % qualité data</a:t>
            </a:r>
            <a:br>
              <a:rPr lang="fr" sz="1100">
                <a:solidFill>
                  <a:srgbClr val="0E0E0E"/>
                </a:solidFill>
              </a:rPr>
            </a:br>
            <a:br>
              <a:rPr lang="fr" sz="1100">
                <a:solidFill>
                  <a:srgbClr val="0E0E0E"/>
                </a:solidFill>
              </a:rPr>
            </a:br>
            <a:r>
              <a:rPr lang="fr" sz="1100"/>
              <a:t> </a:t>
            </a:r>
            <a:r>
              <a:rPr lang="fr" sz="1100">
                <a:solidFill>
                  <a:srgbClr val="0E0E0E"/>
                </a:solidFill>
              </a:rPr>
              <a:t> 100 % conformité consentement</a:t>
            </a:r>
            <a:br>
              <a:rPr lang="fr" sz="1100">
                <a:solidFill>
                  <a:srgbClr val="0E0E0E"/>
                </a:solidFill>
              </a:rPr>
            </a:br>
            <a:br>
              <a:rPr lang="fr" sz="1100">
                <a:solidFill>
                  <a:srgbClr val="0E0E0E"/>
                </a:solidFill>
              </a:rPr>
            </a:br>
            <a:r>
              <a:rPr lang="fr" sz="1100"/>
              <a:t> </a:t>
            </a:r>
            <a:r>
              <a:rPr lang="fr" sz="1100">
                <a:solidFill>
                  <a:srgbClr val="0E0E0E"/>
                </a:solidFill>
              </a:rPr>
              <a:t> −20 % temps d’accès aux données</a:t>
            </a:r>
            <a:br>
              <a:rPr lang="fr" sz="1050">
                <a:solidFill>
                  <a:srgbClr val="0E0E0E"/>
                </a:solidFill>
              </a:rPr>
            </a:br>
            <a:endParaRPr sz="105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B525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B525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1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endParaRPr sz="11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9" name="Google Shape;119;g39e33c6017c_0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0" name="Google Shape;120;g39e33c6017c_0_74"/>
          <p:cNvGraphicFramePr/>
          <p:nvPr/>
        </p:nvGraphicFramePr>
        <p:xfrm>
          <a:off x="907600" y="85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{20456F1C-D7DC-43FC-AAA8-48E0F1207B7D}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fr" sz="1100"/>
                        <a:t>Catégorie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fr" sz="1100"/>
                        <a:t>Outils recommandés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fr" sz="1100"/>
                        <a:t>Objectif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Catalogue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Collibra, Alation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Traçabilité et documentation.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Qualité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Ataccama, Qilk Talend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Nettoyage et déduplication.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Conformité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OneTrust, TrustArc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Gestion des consentements.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Sécurité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Splunk, Vormetric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Supervision et chiffrement.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e33c6017c_0_92"/>
          <p:cNvSpPr txBox="1"/>
          <p:nvPr>
            <p:ph idx="4294967295" type="ctrTitle"/>
          </p:nvPr>
        </p:nvSpPr>
        <p:spPr>
          <a:xfrm>
            <a:off x="404075" y="1666825"/>
            <a:ext cx="85530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2400"/>
              <a:t>Spotify – Implementing the Data Governance Framework</a:t>
            </a:r>
            <a:endParaRPr b="1" i="0" sz="55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6" name="Google Shape;126;g39e33c6017c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e33c6017c_0_85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fr" sz="1800"/>
              <a:t>Spotify Data Governance Implementation Plan</a:t>
            </a:r>
            <a:endParaRPr b="1" sz="25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/>
          </a:p>
        </p:txBody>
      </p:sp>
      <p:sp>
        <p:nvSpPr>
          <p:cNvPr id="132" name="Google Shape;132;g39e33c6017c_0_85"/>
          <p:cNvSpPr txBox="1"/>
          <p:nvPr>
            <p:ph idx="4294967295" type="ctrTitle"/>
          </p:nvPr>
        </p:nvSpPr>
        <p:spPr>
          <a:xfrm>
            <a:off x="0" y="385900"/>
            <a:ext cx="91440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fr" sz="1100"/>
              <a:t>Déploiement du modèle CoE &amp; pilote marketing</a:t>
            </a:r>
            <a:endParaRPr b="1" i="1" sz="11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/>
              <a:t>3 points clés :</a:t>
            </a:r>
            <a:br>
              <a:rPr b="1" lang="fr" sz="1100"/>
            </a:br>
            <a:br>
              <a:rPr b="1" lang="fr" sz="1100"/>
            </a:br>
            <a:r>
              <a:rPr lang="fr" sz="1100"/>
              <a:t> 	✅ Adoption du modèle </a:t>
            </a:r>
            <a:r>
              <a:rPr b="1" lang="fr" sz="1100"/>
              <a:t>Center of Excellence (CoE)</a:t>
            </a:r>
            <a:r>
              <a:rPr lang="fr" sz="1100"/>
              <a:t> : équilibre entre standardisation et autonomie métier.</a:t>
            </a:r>
            <a:br>
              <a:rPr lang="fr" sz="1100"/>
            </a:br>
            <a:r>
              <a:rPr lang="fr" sz="1100"/>
              <a:t>	✅ Déploiement d’un </a:t>
            </a:r>
            <a:r>
              <a:rPr b="1" lang="fr" sz="1100"/>
              <a:t>cadre unifié</a:t>
            </a:r>
            <a:r>
              <a:rPr lang="fr" sz="1100"/>
              <a:t> basé sur la qualité, la conformité et la sécurité.</a:t>
            </a:r>
            <a:br>
              <a:rPr lang="fr" sz="1100"/>
            </a:br>
            <a:r>
              <a:rPr lang="fr" sz="1100"/>
              <a:t>	✅ Intégration complète au </a:t>
            </a:r>
            <a:r>
              <a:rPr b="1" lang="fr" sz="1100"/>
              <a:t>SOC (Security Operations Center)</a:t>
            </a:r>
            <a:r>
              <a:rPr lang="fr" sz="1100"/>
              <a:t> pour supervision centralisée.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050">
                <a:solidFill>
                  <a:srgbClr val="0E0E0E"/>
                </a:solidFill>
              </a:rPr>
            </a:br>
            <a:endParaRPr sz="105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B525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B525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1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endParaRPr sz="11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33" name="Google Shape;133;g39e33c6017c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9e33c6017c_0_85" title="spotify_CoE_light_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9250" y="1743651"/>
            <a:ext cx="5629275" cy="339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e33c6017c_0_101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800"/>
              <a:t>Pilot Program – Marketing Data 2026</a:t>
            </a:r>
            <a:endParaRPr b="1" sz="25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/>
          </a:p>
        </p:txBody>
      </p:sp>
      <p:sp>
        <p:nvSpPr>
          <p:cNvPr id="140" name="Google Shape;140;g39e33c6017c_0_101"/>
          <p:cNvSpPr txBox="1"/>
          <p:nvPr>
            <p:ph idx="4294967295" type="ctrTitle"/>
          </p:nvPr>
        </p:nvSpPr>
        <p:spPr>
          <a:xfrm>
            <a:off x="0" y="385900"/>
            <a:ext cx="91440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fr" sz="1100"/>
              <a:t>6-month pilot to validate the governance framework</a:t>
            </a: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1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050">
                <a:solidFill>
                  <a:srgbClr val="0E0E0E"/>
                </a:solidFill>
              </a:rPr>
            </a:br>
            <a:endParaRPr sz="105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/>
              <a:t>Outils utilisés :</a:t>
            </a:r>
            <a:r>
              <a:rPr lang="fr" sz="1100"/>
              <a:t> Collibra, Qlik-Talend, OneTrust					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/>
              <a:t>Objectifs chiffrés : </a:t>
            </a:r>
            <a:r>
              <a:rPr lang="fr" sz="1100"/>
              <a:t>📈 +10 % de qualité des données	✅ 100 % conformité RGPD/CCPA</a:t>
            </a:r>
            <a:br>
              <a:rPr lang="fr" sz="1100"/>
            </a:br>
            <a:r>
              <a:rPr lang="fr" sz="1100"/>
              <a:t>		         ⏱️ −20 % temps d’accès	            👥 80 % formation équipes marketing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100"/>
            </a:b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B525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B525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1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endParaRPr sz="11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41" name="Google Shape;141;g39e33c6017c_0_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2" name="Google Shape;142;g39e33c6017c_0_101"/>
          <p:cNvGraphicFramePr/>
          <p:nvPr/>
        </p:nvGraphicFramePr>
        <p:xfrm>
          <a:off x="952500" y="82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{20456F1C-D7DC-43FC-AAA8-48E0F1207B7D}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fr" sz="1100"/>
                        <a:t>Mois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fr" sz="1100"/>
                        <a:t>Étape clé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fr" sz="1100"/>
                        <a:t>Livrable principal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fr" sz="1100"/>
                        <a:t>Responsable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>
                          <a:solidFill>
                            <a:srgbClr val="FFFFFF"/>
                          </a:solidFill>
                        </a:rPr>
                        <a:t>Janvier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Lancement du projet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Lancement du projet et définition des objectifs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Pilot Manager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>
                          <a:solidFill>
                            <a:srgbClr val="FFFFFF"/>
                          </a:solidFill>
                        </a:rPr>
                        <a:t>Février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Évaluation qualité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Rapport de qualité des données – version 1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Data Steward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>
                          <a:solidFill>
                            <a:srgbClr val="FFFFFF"/>
                          </a:solidFill>
                        </a:rPr>
                        <a:t>Mars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Audit conformité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Évaluation de la conformité (RGPD/CCPA)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DPO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>
                          <a:solidFill>
                            <a:srgbClr val="FFFFFF"/>
                          </a:solidFill>
                        </a:rPr>
                        <a:t>Avril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Intégration outils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Mise en place technique et intégration des outils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IT Engineer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>
                          <a:solidFill>
                            <a:srgbClr val="FFFFFF"/>
                          </a:solidFill>
                        </a:rPr>
                        <a:t>Mai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Revue de projet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Revue avant la fin du projet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CoE + Pilot Manager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>
                          <a:solidFill>
                            <a:srgbClr val="FFFFFF"/>
                          </a:solidFill>
                        </a:rPr>
                        <a:t>Juin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Clôture &amp; bilan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Retour d’expérience et plan d’extension 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fr" sz="1100"/>
                        <a:t>Pilot Manager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e33c6017c_0_114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800"/>
              <a:t>KPIs &amp; Scaling Plan</a:t>
            </a: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/>
          </a:p>
        </p:txBody>
      </p:sp>
      <p:sp>
        <p:nvSpPr>
          <p:cNvPr id="148" name="Google Shape;148;g39e33c6017c_0_114"/>
          <p:cNvSpPr txBox="1"/>
          <p:nvPr>
            <p:ph idx="4294967295" type="ctrTitle"/>
          </p:nvPr>
        </p:nvSpPr>
        <p:spPr>
          <a:xfrm>
            <a:off x="0" y="385900"/>
            <a:ext cx="91440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fr" sz="1100"/>
              <a:t>Measure → Improve → Expand</a:t>
            </a:r>
            <a:br>
              <a:rPr i="1" lang="fr" sz="1100"/>
            </a:b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1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050">
                <a:solidFill>
                  <a:srgbClr val="0E0E0E"/>
                </a:solidFill>
              </a:rPr>
            </a:br>
            <a:endParaRPr sz="105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/>
              <a:t>Prochaines étapes 2026-2027 :</a:t>
            </a:r>
            <a:br>
              <a:rPr b="1" lang="fr" sz="1100"/>
            </a:br>
            <a:br>
              <a:rPr b="1" lang="fr" sz="1100"/>
            </a:br>
            <a:r>
              <a:rPr lang="fr" sz="1100"/>
              <a:t> 	📍 Extension vers la Finance, Produit, Opérations</a:t>
            </a:r>
            <a:br>
              <a:rPr lang="fr" sz="1100"/>
            </a:br>
            <a:br>
              <a:rPr lang="fr" sz="1100"/>
            </a:br>
            <a:r>
              <a:rPr lang="fr" sz="1100"/>
              <a:t> 	🧩 Comité CoE chargé de la validation et de l’ajustement des outils</a:t>
            </a:r>
            <a:br>
              <a:rPr lang="fr" sz="1100"/>
            </a:br>
            <a:br>
              <a:rPr lang="fr" sz="1100"/>
            </a:br>
            <a:r>
              <a:rPr lang="fr" sz="1100"/>
              <a:t> 	🔁 Boucle d’amélioration continue basée sur les retours du pilote</a:t>
            </a:r>
            <a:br>
              <a:rPr lang="fr" sz="1100"/>
            </a:b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100"/>
            </a:b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B525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B525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fr" sz="11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endParaRPr sz="11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49" name="Google Shape;149;g39e33c6017c_0_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" name="Google Shape;150;g39e33c6017c_0_114"/>
          <p:cNvGraphicFramePr/>
          <p:nvPr/>
        </p:nvGraphicFramePr>
        <p:xfrm>
          <a:off x="952500" y="79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{20456F1C-D7DC-43FC-AAA8-48E0F1207B7D}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Axe</a:t>
                      </a:r>
                      <a:endParaRPr b="1" sz="1000"/>
                    </a:p>
                  </a:txBody>
                  <a:tcPr marT="12700" marB="12700" marR="50800" marL="50800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Indicateur</a:t>
                      </a:r>
                      <a:endParaRPr b="1" sz="1000"/>
                    </a:p>
                  </a:txBody>
                  <a:tcPr marT="12700" marB="12700" marR="50800" marL="50800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Cible</a:t>
                      </a:r>
                      <a:endParaRPr b="1" sz="1000"/>
                    </a:p>
                  </a:txBody>
                  <a:tcPr marT="12700" marB="12700" marR="50800" marL="50800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Qualité des données</a:t>
                      </a:r>
                      <a:endParaRPr b="1" sz="1000"/>
                    </a:p>
                  </a:txBody>
                  <a:tcPr marT="12700" marB="12700" marR="50800" marL="50800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Réduction des valeurs manquantes / doublons</a:t>
                      </a:r>
                      <a:endParaRPr sz="1000"/>
                    </a:p>
                  </a:txBody>
                  <a:tcPr marT="12700" marB="12700" marR="50800" marL="50800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−10 %</a:t>
                      </a:r>
                      <a:endParaRPr sz="1000"/>
                    </a:p>
                  </a:txBody>
                  <a:tcPr marT="12700" marB="12700" marR="50800" marL="50800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Conformité RGPD/CCPA</a:t>
                      </a:r>
                      <a:endParaRPr b="1" sz="1000"/>
                    </a:p>
                  </a:txBody>
                  <a:tcPr marT="12700" marB="12700" marR="50800" marL="50800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Consentements valables / audits sans non-conformité</a:t>
                      </a:r>
                      <a:endParaRPr sz="1000"/>
                    </a:p>
                  </a:txBody>
                  <a:tcPr marT="12700" marB="12700" marR="50800" marL="50800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100 %</a:t>
                      </a:r>
                      <a:endParaRPr sz="1000"/>
                    </a:p>
                  </a:txBody>
                  <a:tcPr marT="12700" marB="12700" marR="50800" marL="50800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Accessibilité</a:t>
                      </a:r>
                      <a:endParaRPr b="1" sz="1000"/>
                    </a:p>
                  </a:txBody>
                  <a:tcPr marT="12700" marB="12700" marR="50800" marL="50800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Temps moyen d’accès à une donnée</a:t>
                      </a:r>
                      <a:endParaRPr sz="1000"/>
                    </a:p>
                  </a:txBody>
                  <a:tcPr marT="12700" marB="12700" marR="50800" marL="50800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−20 %</a:t>
                      </a:r>
                      <a:endParaRPr sz="1000"/>
                    </a:p>
                  </a:txBody>
                  <a:tcPr marT="12700" marB="12700" marR="50800" marL="50800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Sécurité</a:t>
                      </a:r>
                      <a:endParaRPr b="1" sz="1000"/>
                    </a:p>
                  </a:txBody>
                  <a:tcPr marT="12700" marB="12700" marR="50800" marL="50800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Incidents ou fuites signalés</a:t>
                      </a:r>
                      <a:endParaRPr sz="1000"/>
                    </a:p>
                  </a:txBody>
                  <a:tcPr marT="12700" marB="12700" marR="50800" marL="50800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0</a:t>
                      </a:r>
                      <a:endParaRPr sz="1000"/>
                    </a:p>
                  </a:txBody>
                  <a:tcPr marT="12700" marB="12700" marR="50800" marL="50800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/>
                        <a:t>Adoption et Culture Data</a:t>
                      </a:r>
                      <a:endParaRPr b="1" sz="1000"/>
                    </a:p>
                  </a:txBody>
                  <a:tcPr marT="12700" marB="12700" marR="50800" marL="50800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Taux de formation des équipes métier</a:t>
                      </a:r>
                      <a:endParaRPr sz="1000"/>
                    </a:p>
                  </a:txBody>
                  <a:tcPr marT="12700" marB="12700" marR="50800" marL="50800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80 %</a:t>
                      </a:r>
                      <a:endParaRPr sz="1000"/>
                    </a:p>
                  </a:txBody>
                  <a:tcPr marT="12700" marB="12700" marR="50800" marL="50800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5774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>
            <p:ph idx="4294967295" type="ctrTitle"/>
          </p:nvPr>
        </p:nvSpPr>
        <p:spPr>
          <a:xfrm>
            <a:off x="40550" y="446050"/>
            <a:ext cx="9103500" cy="46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600">
                <a:solidFill>
                  <a:schemeClr val="lt1"/>
                </a:solidFill>
              </a:rPr>
              <a:t>Le pilote marketing permettra de valider la solidité du modèle CoE :</a:t>
            </a:r>
            <a:endParaRPr b="1"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fr" sz="1600">
                <a:solidFill>
                  <a:schemeClr val="lt1"/>
                </a:solidFill>
              </a:rPr>
              <a:t>Standardisation sans perte d’agilité</a:t>
            </a:r>
            <a:br>
              <a:rPr lang="fr" sz="1600">
                <a:solidFill>
                  <a:schemeClr val="lt1"/>
                </a:solidFill>
              </a:rPr>
            </a:b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fr" sz="1600">
                <a:solidFill>
                  <a:schemeClr val="lt1"/>
                </a:solidFill>
              </a:rPr>
              <a:t>Amélioration mesurable de la qualité et de la conformité</a:t>
            </a:r>
            <a:br>
              <a:rPr lang="fr" sz="1600">
                <a:solidFill>
                  <a:schemeClr val="lt1"/>
                </a:solidFill>
              </a:rPr>
            </a:b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fr" sz="1600">
                <a:solidFill>
                  <a:schemeClr val="lt1"/>
                </a:solidFill>
              </a:rPr>
              <a:t>Engagement accru des métiers dans la culture data</a:t>
            </a:r>
            <a:br>
              <a:rPr lang="fr" sz="1600">
                <a:solidFill>
                  <a:schemeClr val="lt1"/>
                </a:solidFill>
              </a:rPr>
            </a:b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fr" sz="1600">
                <a:solidFill>
                  <a:schemeClr val="lt1"/>
                </a:solidFill>
              </a:rPr>
              <a:t>🎯 </a:t>
            </a:r>
            <a:r>
              <a:rPr i="1" lang="fr" sz="1600">
                <a:solidFill>
                  <a:schemeClr val="lt1"/>
                </a:solidFill>
              </a:rPr>
              <a:t>Prochaine étape : déploiement global 2026-2027.</a:t>
            </a:r>
            <a:endParaRPr i="1" sz="16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1600">
                <a:solidFill>
                  <a:srgbClr val="FFFFFF"/>
                </a:solidFill>
              </a:rPr>
              <a:t>Ce projet est très </a:t>
            </a:r>
            <a:r>
              <a:rPr lang="fr" sz="1600">
                <a:solidFill>
                  <a:srgbClr val="FFFFFF"/>
                </a:solidFill>
              </a:rPr>
              <a:t>intéressant </a:t>
            </a:r>
            <a:r>
              <a:rPr lang="fr" sz="1600">
                <a:solidFill>
                  <a:srgbClr val="FFFFFF"/>
                </a:solidFill>
              </a:rPr>
              <a:t> pour mettre en place un plan de gouvernance de données, de mon expérience personnelle je ne l’ai jamais vu se réaliser dans son </a:t>
            </a:r>
            <a:r>
              <a:rPr lang="fr" sz="1600">
                <a:solidFill>
                  <a:srgbClr val="FFFFFF"/>
                </a:solidFill>
              </a:rPr>
              <a:t>entièreté ou alors évoqué mais jamais jusqu’à son terme en entreprise…</a:t>
            </a:r>
            <a:endParaRPr sz="16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1600">
                <a:solidFill>
                  <a:srgbClr val="FFFFFF"/>
                </a:solidFill>
              </a:rPr>
              <a:t>C’est dommage car cela permet de se poser les bonnes questions sur la façon dont a doit mettre en place l’organisation de la data, si précieuse pour nous :-)</a:t>
            </a:r>
            <a:r>
              <a:rPr lang="fr" sz="1600">
                <a:solidFill>
                  <a:srgbClr val="FFFFFF"/>
                </a:solidFill>
              </a:rPr>
              <a:t> </a:t>
            </a:r>
            <a:endParaRPr sz="1600">
              <a:solidFill>
                <a:srgbClr val="FFFFFF"/>
              </a:solidFill>
            </a:endParaRPr>
          </a:p>
        </p:txBody>
      </p:sp>
      <p:pic>
        <p:nvPicPr>
          <p:cNvPr id="156" name="Google Shape;1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900" cy="392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 txBox="1"/>
          <p:nvPr>
            <p:ph idx="4294967295" type="ctrTitle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fr" sz="56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</a:t>
            </a:r>
            <a:r>
              <a:rPr b="1" i="0" lang="fr" sz="56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! </a:t>
            </a:r>
            <a:endParaRPr b="1" i="0" sz="56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2" name="Google Shape;1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 txBox="1"/>
          <p:nvPr>
            <p:ph idx="4294967295" type="ctrTitle"/>
          </p:nvPr>
        </p:nvSpPr>
        <p:spPr>
          <a:xfrm>
            <a:off x="1274779" y="2606050"/>
            <a:ext cx="70362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400">
                <a:solidFill>
                  <a:srgbClr val="0E3449"/>
                </a:solidFill>
                <a:latin typeface="Inter Medium"/>
                <a:ea typeface="Inter Medium"/>
                <a:cs typeface="Inter Medium"/>
                <a:sym typeface="Inter Medium"/>
              </a:rPr>
              <a:t>A bientôt pour de nouvelles aventures…</a:t>
            </a:r>
            <a:endParaRPr b="0" i="0" sz="2400" u="none" cap="none" strike="noStrike">
              <a:solidFill>
                <a:srgbClr val="0E344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64" name="Google Shape;1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